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DATA SCIENCE FOR BIOMEDICAL INFORMATICS · SPRING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Time Series During Immune Response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clustering of host transcriptomes during H3N2 influenza challenge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45720" cy="6400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5720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"Co-clustering implies co-regulation (usually)."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14 · The University of Texas at Austin · School of 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measure gene expression over time?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 infection unfolds as a temporal wave of gene activation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immune system encounters a pathogen,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genes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dynamically up- and down-regulated over hours to days.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respond within hours (innate antiviral defense). Others take days (adaptive immunity, B-cell expansion).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RNA-sequencing captures this entire transcriptomic landscape — but only if we sample frequently enough.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554480"/>
            <a:ext cx="73152" cy="4114800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12280" y="19202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genes by their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expression profile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find groups that turn on and off together.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ask: which biological pathways do those clusters represent? And do symptomatic patients differ from asymptomatic ones?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vaccine design, antiviral drug development, sepsis biology — all depend on understanding these temporal programs.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Project 14 · Gene Expression Time Series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datasets, one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H3N2 influenza inoculation in healthy adults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69164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554480"/>
            <a:ext cx="169164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600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3172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timepoints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0 → 108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554480"/>
            <a:ext cx="169164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600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11,886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2062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symbol mapping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5440680" cy="9144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symptomatic samples       </a:t>
            </a:r>
            <a:pPr indent="0" marL="0">
              <a:buNone/>
            </a:pPr>
            <a:r>
              <a:rPr lang="en-US" sz="2200" b="1" dirty="0">
                <a:solidFill>
                  <a:srgbClr val="54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asymptomatic samples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965960"/>
            <a:ext cx="365760" cy="3657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map probe IDs → gene symbols (mygene)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468880"/>
            <a:ext cx="365760" cy="3657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filter → top 500 most dynamic genes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2971800"/>
            <a:ext cx="365760" cy="3657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normalize per gene across samples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3474720"/>
            <a:ext cx="365760" cy="3657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with correlation distance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3977640"/>
            <a:ext cx="365760" cy="3657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GO/KEGG enrichment (g:Profiler) + GSEA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4480560"/>
            <a:ext cx="365760" cy="3657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Symptomatic vs. asymptomatic comparison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Project 14 · Gene Expression Time Series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Taming the curse of dimensionality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11,886 noisy genes to 500 informative ones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 &gt;&gt; n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11,886 genes vs. 268 samples =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44:1 ratio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 dimensions, every pair of points has a similar distance — clusters become statistically indistinguishable from random partitions.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TWO-STEP REDUCTION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Variance filter: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Keep only the top 500 most variable genes — the ones that actually change during the time course.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Z-score normalization: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Center each gene at mean=0, std=1, so a gene at 10,000 units doesn't drown out one at 10.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554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Z-score normalization</a:t>
            </a:r>
            <a:endParaRPr lang="en-US" sz="1200" dirty="0"/>
          </a:p>
        </p:txBody>
      </p:sp>
      <p:pic>
        <p:nvPicPr>
          <p:cNvPr id="10" name="Image 0" descr="/home/claude/deck/normalization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965960"/>
            <a:ext cx="5852160" cy="19476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4114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features vs samples</a:t>
            </a:r>
            <a:endParaRPr lang="en-US" sz="1200" dirty="0"/>
          </a:p>
        </p:txBody>
      </p:sp>
      <p:pic>
        <p:nvPicPr>
          <p:cNvPr id="12" name="Image 1" descr="/home/claude/deck/eda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26280"/>
            <a:ext cx="5852160" cy="18928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Project 14 · Gene Expression Time Series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of gene trajectories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distance + average linkage, cut at k =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CORRELATION DISTANCE?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Pearson r between gene trajectories.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genes by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their time course, ignoring absolute expression levels — exactly what "co-regulated" means.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SIZES (k = 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274320" cy="274320"/>
          </a:xfrm>
          <a:prstGeom prst="ellipse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86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genes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 = 0.59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315968"/>
            <a:ext cx="274320" cy="274320"/>
          </a:xfrm>
          <a:prstGeom prst="ellipse">
            <a:avLst/>
          </a:prstGeom>
          <a:solidFill>
            <a:srgbClr val="5499C7"/>
          </a:solidFill>
          <a:ln w="12700">
            <a:solidFill>
              <a:srgbClr val="5499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270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4270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genes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270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 = 0.51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700016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542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4654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genes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6542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 = 0.55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084064"/>
            <a:ext cx="274320" cy="27432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38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50383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5038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 = 0.43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468112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223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5422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genes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5422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 = 0.38</a:t>
            </a:r>
            <a:endParaRPr lang="en-US" sz="1100" dirty="0"/>
          </a:p>
        </p:txBody>
      </p:sp>
      <p:pic>
        <p:nvPicPr>
          <p:cNvPr id="27" name="Image 0" descr="/home/claude/deck/dend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91640"/>
            <a:ext cx="7040880" cy="24688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4846320" y="4434840"/>
            <a:ext cx="7040880" cy="1783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0" y="4526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0" y="48006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= correlation distance. Long vertical lines = big differences forced to merge.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at the longest gap → 5 natural temporal modules.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 (2 genes) is an outlier and excluded from enrichment.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Project 14 · Gene Expression Time Series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temporal modules emerge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sorted by cluster · 15 timepoints · Z-score color scale</a:t>
            </a:r>
            <a:endParaRPr lang="en-US" sz="1400" dirty="0"/>
          </a:p>
        </p:txBody>
      </p:sp>
      <p:pic>
        <p:nvPicPr>
          <p:cNvPr id="4" name="Image 0" descr="/home/claude/deck/temporal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417320"/>
            <a:ext cx="59893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SEEING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expression above this gene's average. Blue = below average.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flows left to right (Hour 0 → 108).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colored sidebar marks each gene's cluster assignment.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vertical bands = synchronized waves of activity.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clusters peak early (Hr 12–36), others late (Hr 60+).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Anti-correlated bands (red-where-blue) suggest reciprocal regulation.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would be invisible without prior variance filtering &amp; normalization.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Project 14 · Gene Expression Time Series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has a distinct temporal signature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Z-score ± 1 SD per cluster across the time course</a:t>
            </a:r>
            <a:endParaRPr lang="en-US" sz="1400" dirty="0"/>
          </a:p>
        </p:txBody>
      </p:sp>
      <p:pic>
        <p:nvPicPr>
          <p:cNvPr id="4" name="Image 0" descr="/home/claude/deck/trajectory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315200" cy="4279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LABELS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(based on Step 6 enrichment)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046720" y="2194560"/>
            <a:ext cx="73152" cy="77724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/ Energy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genes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46720" y="3108960"/>
            <a:ext cx="73152" cy="777240"/>
          </a:xfrm>
          <a:prstGeom prst="rect">
            <a:avLst/>
          </a:prstGeom>
          <a:solidFill>
            <a:srgbClr val="5499C7"/>
          </a:solidFill>
          <a:ln w="12700">
            <a:solidFill>
              <a:srgbClr val="5499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Antiviral Defense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0" y="3639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genes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4023360"/>
            <a:ext cx="73152" cy="7772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Cytokine Signaling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0" y="4553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genes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46720" y="4937760"/>
            <a:ext cx="73152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0" y="5468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genes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Project 14 · Gene Expression Time Series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 checks out: antiviral defense dominates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Fisher's exact test (g:Profiler) + GSEA pre-ranked</a:t>
            </a:r>
            <a:endParaRPr lang="en-US" sz="1400" dirty="0"/>
          </a:p>
        </p:txBody>
      </p:sp>
      <p:pic>
        <p:nvPicPr>
          <p:cNvPr id="4" name="Image 0" descr="/home/claude/deck/gsea_bar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486400" cy="3255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GSEA: top hit "Defense Response To Virus" — NES = 3.47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GO BIOLOGICAL PROCESSES BY CLUSTER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0" y="1783080"/>
            <a:ext cx="64008" cy="1371600"/>
          </a:xfrm>
          <a:prstGeom prst="rect">
            <a:avLst/>
          </a:prstGeom>
          <a:solidFill>
            <a:srgbClr val="5499C7"/>
          </a:solidFill>
          <a:ln w="12700">
            <a:solidFill>
              <a:srgbClr val="5499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 ·  258 genes · Antiviral Defense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207568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defense response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response to other organism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defense response to virus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3291840"/>
            <a:ext cx="64008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5  ·  88 genes · Adaptive Immunity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0" y="358444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immune response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adaptive immune response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leukocyte mediated immunity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4800600"/>
            <a:ext cx="64008" cy="137160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4800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 ·  115 genes · Metabolic / Energy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509320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oxidative phosphorylation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aerobic respiration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cellular respiration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Project 14 · Gene Expression Time Series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who gets sick from the first 24 hours?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Hour-21 differential expression: signal exists but is underpowered</a:t>
            </a:r>
            <a:endParaRPr lang="en-US" sz="1400" dirty="0"/>
          </a:p>
        </p:txBody>
      </p:sp>
      <p:pic>
        <p:nvPicPr>
          <p:cNvPr id="4" name="Image 0" descr="/home/claude/deck/symp_vs_asy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5760720" cy="3374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46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Symptomatic (orange) vs. asymptomatic (blue) per cluster</a:t>
            </a:r>
            <a:endParaRPr lang="en-US" sz="1000" dirty="0"/>
          </a:p>
        </p:txBody>
      </p:sp>
      <p:pic>
        <p:nvPicPr>
          <p:cNvPr id="6" name="Image 1" descr="/home/claude/deck/volcano_hour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303520" cy="31455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0" y="4617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 at Hour 21 (n = 8 vs 8)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65760" y="5212080"/>
            <a:ext cx="37490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5257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280160" y="5349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pass FDR &lt; 0.05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= 8 vs 8 across 500 tests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06240" y="5212080"/>
            <a:ext cx="37490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06240" y="5257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5486400" y="5349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candidates in Cluster 1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(metabolism / energy module)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5212080"/>
            <a:ext cx="36576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BMI1, GYPB, PASK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092440" y="56692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candidate genes by raw p-value</a:t>
            </a:r>
            <a:endParaRPr lang="en-US" sz="10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exists; needs larger cohort to confirm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320D · Project 14 · Gene Expression Time Series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temporal programs of immune response, with caveats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0332720" cy="1234440"/>
          </a:xfrm>
          <a:prstGeom prst="rect">
            <a:avLst/>
          </a:prstGeom>
          <a:solidFill>
            <a:srgbClr val="1A3A5F"/>
          </a:solidFill>
          <a:ln w="12700">
            <a:solidFill>
              <a:srgbClr val="1A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395728"/>
            <a:ext cx="502920" cy="5029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17627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Co-expression captures real biology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51460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clusters partition gene space into interpretable modules: antiviral defense (258 genes), adaptive immunity, metabolism, and cytokine signaling. GSEA confirms with NES = 3.47 for "Defense Response To Virus."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10332720" cy="1234440"/>
          </a:xfrm>
          <a:prstGeom prst="rect">
            <a:avLst/>
          </a:prstGeom>
          <a:solidFill>
            <a:srgbClr val="1A3A5F"/>
          </a:solidFill>
          <a:ln w="12700">
            <a:solidFill>
              <a:srgbClr val="1A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813048"/>
            <a:ext cx="502920" cy="5029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59359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choice matters at every step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IDs needed mapping to symbols. Variance filtering rescued the analysis from p≫n. Correlation distance + average linkage gave biologically coherent clusters. Skipping any step would silently corrupt the result.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846320"/>
            <a:ext cx="10332720" cy="1234440"/>
          </a:xfrm>
          <a:prstGeom prst="rect">
            <a:avLst/>
          </a:prstGeom>
          <a:solidFill>
            <a:srgbClr val="1A3A5F"/>
          </a:solidFill>
          <a:ln w="12700">
            <a:solidFill>
              <a:srgbClr val="1A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5230368"/>
            <a:ext cx="502920" cy="5029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230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501091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signature: signal present, power lacking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534924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genes pass FDR at Hour 21, but candidates concentrate in Cluster 1 (metabolism). Consistent with a real but subtle effect requiring more subjects. Future work: a priori candidate restriction + multivariate models on the full trajectory.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 Expression Time Series During Immune Response</dc:title>
  <dc:subject>PptxGenJS Presentation</dc:subject>
  <dc:creator>I 320D Project 14 Team</dc:creator>
  <cp:lastModifiedBy>I 320D Project 14 Team</cp:lastModifiedBy>
  <cp:revision>1</cp:revision>
  <dcterms:created xsi:type="dcterms:W3CDTF">2026-05-06T23:42:31Z</dcterms:created>
  <dcterms:modified xsi:type="dcterms:W3CDTF">2026-05-06T23:42:31Z</dcterms:modified>
</cp:coreProperties>
</file>